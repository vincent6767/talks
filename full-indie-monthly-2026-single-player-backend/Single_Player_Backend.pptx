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Cold open: the Games Link talk story. Stay on this slide the whole time — eyes on me, not the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— script for this hook not yet shared. Pictures only, no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central reframe. Single-player is a count of players. Offline is a question about servers. They get used as synonyms; they are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the four rows. Each one is a separate decision — you can take any of them without taking the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Lowest-stakes row. Nobody argues with cloud saves. Players already expect their progress to follow them between devices.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finished, finite single-player game gets a reason to reopen. Spelunky's Daily Challenge: same seed for every player, one attempt, one leaderboard.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money slide. One overtuned boss fight, two ways to fix it. Walk the left chain step by step, then let the right side land in one beat.g 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Accounts outlast the store you sold through. Platform shifts, storefront changes, next game — the relationship carries 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catch, part one. The moment accounts, cloud saves or analytics tie to a person, GDPR and its equivalents apply — studio size is not an exemption.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catch, part two. Added dev and maintenance work, and it compounds if you support offline and online modes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most teams: buy. Build only where the need is genuinely unique — custom leaderboard rules an off-the-shelf platform can't express.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GIF makes the point visually — a game backend isn't one box, it's a village of systems working together to keep a single-player game alive and healthy.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ask. Spend an hour with the four rows and write down which ones you're saying no to, and why. A no on the record is a decision; a no by default isn't.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Thanks. Point at the link, then open the floor.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this for the five minutes of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webp"/><Relationship Id="rId4" Type="http://schemas.openxmlformats.org/officeDocument/2006/relationships/image" Target="../media/image-2-4.webp"/><Relationship Id="rId5" Type="http://schemas.openxmlformats.org/officeDocument/2006/relationships/image" Target="../media/image-2-5.webp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webp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webp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748010"/>
            <a:ext cx="2946306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INDIE MONTHLY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6771" y="4038600"/>
            <a:ext cx="16550275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52"/>
              </a:lnSpc>
              <a:buNone/>
            </a:pPr>
            <a:r>
              <a:rPr lang="en-US" sz="8700" spc="-174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Your Single-Player Game Might Still Want a Backend</a:t>
            </a:r>
            <a:endParaRPr lang="en-US" sz="8700" dirty="0"/>
          </a:p>
        </p:txBody>
      </p:sp>
      <p:sp>
        <p:nvSpPr>
          <p:cNvPr id="5" name="Text 3"/>
          <p:cNvSpPr/>
          <p:nvPr/>
        </p:nvSpPr>
        <p:spPr>
          <a:xfrm>
            <a:off x="1143000" y="9206210"/>
            <a:ext cx="898178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136428" y="9206210"/>
            <a:ext cx="142131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373809" y="9206210"/>
            <a:ext cx="1995964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06537" y="990600"/>
            <a:ext cx="17642309" cy="481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97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 Link 2026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77296" r="-77296" t="0" b="0"/>
          <a:stretch/>
        </p:blipFill>
        <p:spPr>
          <a:xfrm>
            <a:off x="1143000" y="1905000"/>
            <a:ext cx="5156150" cy="36004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-77296" r="-77296" t="0" b="0"/>
          <a:stretch/>
        </p:blipFill>
        <p:spPr>
          <a:xfrm>
            <a:off x="6565850" y="1905000"/>
            <a:ext cx="5156150" cy="360045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-77218" r="-77218" t="0" b="0"/>
          <a:stretch/>
        </p:blipFill>
        <p:spPr>
          <a:xfrm>
            <a:off x="11988701" y="1905000"/>
            <a:ext cx="5156150" cy="360045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143000" y="5772150"/>
            <a:ext cx="7867501" cy="3600450"/>
          </a:xfrm>
          <a:prstGeom prst="roundRect">
            <a:avLst>
              <a:gd name="adj" fmla="val 2116"/>
            </a:avLst>
          </a:prstGeom>
          <a:solidFill>
            <a:srgbClr val="7F7F7F">
              <a:alpha val="8000"/>
            </a:srgbClr>
          </a:solidFill>
          <a:ln/>
        </p:spPr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19491" b="19491"/>
          <a:stretch/>
        </p:blipFill>
        <p:spPr>
          <a:xfrm>
            <a:off x="1143000" y="5772150"/>
            <a:ext cx="7867501" cy="360045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9277201" y="5772150"/>
            <a:ext cx="7867650" cy="3600450"/>
          </a:xfrm>
          <a:prstGeom prst="roundRect">
            <a:avLst>
              <a:gd name="adj" fmla="val 2116"/>
            </a:avLst>
          </a:prstGeom>
          <a:solidFill>
            <a:srgbClr val="7F7F7F">
              <a:alpha val="8000"/>
            </a:srgbClr>
          </a:solidFill>
          <a:ln/>
        </p:spPr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19492" b="19492"/>
          <a:stretch/>
        </p:blipFill>
        <p:spPr>
          <a:xfrm>
            <a:off x="9277201" y="5772150"/>
            <a:ext cx="786765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748010"/>
            <a:ext cx="2418011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DISTINCTION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4133850"/>
            <a:ext cx="752710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672"/>
              </a:lnSpc>
              <a:buNone/>
            </a:pPr>
            <a:r>
              <a:rPr lang="en-US" sz="7800" spc="-156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“single-player”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143000" y="5314950"/>
            <a:ext cx="346595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people play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671620" y="4133850"/>
            <a:ext cx="76408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672"/>
              </a:lnSpc>
              <a:buNone/>
            </a:pPr>
            <a:r>
              <a:rPr lang="en-US" sz="78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10045303" y="4133850"/>
            <a:ext cx="405086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672"/>
              </a:lnSpc>
              <a:buNone/>
            </a:pPr>
            <a:r>
              <a:rPr lang="en-US" sz="7800" spc="-156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“offline”</a:t>
            </a:r>
            <a:endParaRPr lang="en-US" sz="7800" dirty="0"/>
          </a:p>
        </p:txBody>
      </p:sp>
      <p:sp>
        <p:nvSpPr>
          <p:cNvPr id="8" name="Text 6"/>
          <p:cNvSpPr/>
          <p:nvPr/>
        </p:nvSpPr>
        <p:spPr>
          <a:xfrm>
            <a:off x="10045303" y="5314950"/>
            <a:ext cx="346595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the game talks to a server</a:t>
            </a:r>
            <a:endParaRPr lang="en-US" sz="2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42193" y="9815810"/>
            <a:ext cx="4602807" cy="1663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62A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53A80">
                  <a:alpha val="70000"/>
                </a:srgbClr>
              </a:gs>
              <a:gs pos="64000">
                <a:srgbClr val="353A80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06537" y="4083546"/>
            <a:ext cx="9653215" cy="481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97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categories gets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4908054"/>
            <a:ext cx="7922181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kinds of online feature, and what a single-player game gets for taking each one.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748010"/>
            <a:ext cx="1713399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01 / 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06537" y="4959846"/>
            <a:ext cx="6536159" cy="481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97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Convenience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43000" y="5784354"/>
            <a:ext cx="608266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saves. Cross-platform accounts and progression.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962900" y="2439591"/>
            <a:ext cx="9182100" cy="7236619"/>
          </a:xfrm>
          <a:prstGeom prst="roundRect">
            <a:avLst>
              <a:gd name="adj" fmla="val 1053"/>
            </a:avLst>
          </a:prstGeom>
          <a:solidFill>
            <a:srgbClr val="7F7F7F">
              <a:alpha val="8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8717" b="-28717"/>
          <a:stretch/>
        </p:blipFill>
        <p:spPr>
          <a:xfrm>
            <a:off x="7962900" y="2439591"/>
            <a:ext cx="9182100" cy="7236619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2193" y="9815810"/>
            <a:ext cx="4602807" cy="1663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748010"/>
            <a:ext cx="1713399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02 / 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06537" y="4959846"/>
            <a:ext cx="6536159" cy="481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97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LiveOps &amp; content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43000" y="5784354"/>
            <a:ext cx="608266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events, rotate content — without a client update.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962900" y="3361134"/>
            <a:ext cx="9182100" cy="5850731"/>
          </a:xfrm>
          <a:prstGeom prst="roundRect">
            <a:avLst>
              <a:gd name="adj" fmla="val 1302"/>
            </a:avLst>
          </a:prstGeom>
          <a:solidFill>
            <a:srgbClr val="7F7F7F">
              <a:alpha val="8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1416" r="-1416" t="0" b="0"/>
          <a:stretch/>
        </p:blipFill>
        <p:spPr>
          <a:xfrm>
            <a:off x="7962900" y="3361134"/>
            <a:ext cx="9182100" cy="585073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62900" y="9440466"/>
            <a:ext cx="945756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1429"/>
              </a:lnSpc>
              <a:buNone/>
            </a:pPr>
            <a:r>
              <a:rPr lang="en-US" sz="18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Spelunky — Daily Challenge</a:t>
            </a:r>
            <a:endParaRPr lang="en-US" sz="1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2193" y="9815810"/>
            <a:ext cx="4602807" cy="1663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748010"/>
            <a:ext cx="1713399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03 / 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06537" y="1842492"/>
            <a:ext cx="17642309" cy="481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97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remote config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43000" y="3553569"/>
            <a:ext cx="779526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PATH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6305" y="4593580"/>
            <a:ext cx="7389495" cy="415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boss fight is overtuned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cause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it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to the cert queue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143000" y="9394180"/>
            <a:ext cx="595171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to weeks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601200" y="3553569"/>
            <a:ext cx="779526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PATH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74505" y="4593580"/>
            <a:ext cx="738949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value server-side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601200" y="5736580"/>
            <a:ext cx="557296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player gets it next time they load the game</a:t>
            </a:r>
            <a:endParaRPr lang="en-US" sz="3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42193" y="9815810"/>
            <a:ext cx="4602807" cy="1663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748010"/>
            <a:ext cx="1713399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04 / 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06537" y="4959846"/>
            <a:ext cx="6536159" cy="481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97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43000" y="5784354"/>
            <a:ext cx="608266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relationship with your player that survives the storefront.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962900" y="2439591"/>
            <a:ext cx="9182100" cy="7236619"/>
          </a:xfrm>
          <a:prstGeom prst="roundRect">
            <a:avLst>
              <a:gd name="adj" fmla="val 1053"/>
            </a:avLst>
          </a:prstGeom>
          <a:solidFill>
            <a:srgbClr val="7F7F7F">
              <a:alpha val="8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0055" b="-20055"/>
          <a:stretch/>
        </p:blipFill>
        <p:spPr>
          <a:xfrm>
            <a:off x="7962900" y="2439591"/>
            <a:ext cx="9182100" cy="7236619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2193" y="9815810"/>
            <a:ext cx="4602807" cy="1663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748010"/>
            <a:ext cx="2719075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CATCH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2845" y="3238500"/>
            <a:ext cx="14489711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18"/>
              </a:lnSpc>
              <a:buNone/>
            </a:pPr>
            <a:r>
              <a:rPr lang="en-US" sz="6600" spc="-13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now a company that stores personal data.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1143000" y="5753100"/>
            <a:ext cx="10397862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Accounts, cloud saves or analytics tied to a person put you under GDPR and laws like it — whatever the size of the studio.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42193" y="9815810"/>
            <a:ext cx="4602807" cy="1663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748010"/>
            <a:ext cx="2719075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CATCH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2845" y="3467100"/>
            <a:ext cx="14489711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18"/>
              </a:lnSpc>
              <a:buNone/>
            </a:pPr>
            <a:r>
              <a:rPr lang="en-US" sz="6600" spc="-13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…and: more to build. More to maintain.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1143000" y="5981700"/>
            <a:ext cx="1039786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compounds if you support both an offline and an online mode.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4881" y="9815810"/>
            <a:ext cx="4760119" cy="1663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06537" y="1842492"/>
            <a:ext cx="17642309" cy="481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97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it yourself? Or buy it?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4010769"/>
            <a:ext cx="8298180" cy="273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641"/>
              </a:lnSpc>
              <a:buNone/>
            </a:pPr>
            <a:r>
              <a:rPr lang="en-US" sz="2550" spc="-38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143000" y="4467820"/>
            <a:ext cx="7770114" cy="689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most teams, an off-the-shelf backend platform. It is someone else's job to keep it up.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0" y="4010769"/>
            <a:ext cx="8298180" cy="273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641"/>
              </a:lnSpc>
              <a:buNone/>
            </a:pPr>
            <a:r>
              <a:rPr lang="en-US" sz="2550" spc="-38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601200" y="4467820"/>
            <a:ext cx="7770114" cy="689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for a genuinely unique need — custom leaderboard rules no platform will express for you.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4881" y="9815810"/>
            <a:ext cx="4760119" cy="1663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61826">
                  <a:alpha val="88000"/>
                </a:srgbClr>
              </a:gs>
              <a:gs pos="32000">
                <a:srgbClr val="161925">
                  <a:alpha val="40000"/>
                </a:srgbClr>
              </a:gs>
              <a:gs pos="58000">
                <a:srgbClr val="161925">
                  <a:alpha val="0"/>
                </a:srgbClr>
              </a:gs>
            </a:gsLst>
            <a:lin ang="16200000" scaled="0"/>
          </a:gradFill>
          <a:ln/>
        </p:spPr>
      </p:sp>
      <p:sp>
        <p:nvSpPr>
          <p:cNvPr id="6" name="Text 3"/>
          <p:cNvSpPr/>
          <p:nvPr/>
        </p:nvSpPr>
        <p:spPr>
          <a:xfrm>
            <a:off x="1143000" y="748010"/>
            <a:ext cx="1768078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B5AB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REALITY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3000" y="8721328"/>
            <a:ext cx="9011480" cy="689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takes a village to build and maintain a game backend platform properly.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748010"/>
            <a:ext cx="1146572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2845" y="3467100"/>
            <a:ext cx="14489711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18"/>
              </a:lnSpc>
              <a:buNone/>
            </a:pPr>
            <a:r>
              <a:rPr lang="en-US" sz="6600" spc="-13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an hour. Write down your no's.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1143000" y="5981700"/>
            <a:ext cx="1039786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game doesn't need all four categories on day one — but choose deliberately, not by default.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4881" y="9815810"/>
            <a:ext cx="4760119" cy="1663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748010"/>
            <a:ext cx="2946306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INDIE MONTHLY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76771" y="3981450"/>
            <a:ext cx="17675051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52"/>
              </a:lnSpc>
              <a:buNone/>
            </a:pPr>
            <a:r>
              <a:rPr lang="en-US" sz="8700" spc="-174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</a:t>
            </a:r>
            <a:endParaRPr lang="en-US" sz="8700" dirty="0"/>
          </a:p>
        </p:txBody>
      </p:sp>
      <p:sp>
        <p:nvSpPr>
          <p:cNvPr id="5" name="Text 3"/>
          <p:cNvSpPr/>
          <p:nvPr/>
        </p:nvSpPr>
        <p:spPr>
          <a:xfrm>
            <a:off x="1143000" y="5467350"/>
            <a:ext cx="841731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to talk backends, cert queues or leaderboard rules after.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9206210"/>
            <a:ext cx="898178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36428" y="9206210"/>
            <a:ext cx="142131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3809" y="9206210"/>
            <a:ext cx="5144944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linkedin.com/in/vincent-vincent-360b71104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5240000" y="6934200"/>
            <a:ext cx="19050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9397AB">
                <a:alpha val="10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2400" y="7086600"/>
            <a:ext cx="1600200" cy="1600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211574" y="9206210"/>
            <a:ext cx="1933426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 connect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62A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53A80">
                  <a:alpha val="70000"/>
                </a:srgbClr>
              </a:gs>
              <a:gs pos="64000">
                <a:srgbClr val="353A80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06537" y="4959846"/>
            <a:ext cx="3150126" cy="481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97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9206210"/>
            <a:ext cx="5144944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linkedin.com/in/vincent-vincent-360b71104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2026-09-01T03:37:23Z</dcterms:created>
  <dcterms:modified xsi:type="dcterms:W3CDTF">2026-09-01T03:37:23Z</dcterms:modified>
</cp:coreProperties>
</file>